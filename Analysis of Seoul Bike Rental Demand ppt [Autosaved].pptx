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7" r:id="rId10"/>
    <p:sldId id="268" r:id="rId11"/>
    <p:sldId id="274" r:id="rId12"/>
    <p:sldId id="275" r:id="rId13"/>
    <p:sldId id="269" r:id="rId14"/>
    <p:sldId id="273" r:id="rId15"/>
    <p:sldId id="270" r:id="rId16"/>
    <p:sldId id="271" r:id="rId17"/>
    <p:sldId id="272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92072-D04E-483D-98C6-E64E633191CA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B755F-9341-4642-AEEF-D0D4C68CE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6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3B755F-9341-4642-AEEF-D0D4C68CE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4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8AAFA-57F1-44D6-AD0D-A2C21CC4BDBB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068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FC33F-FE57-4432-B0F8-2ECDDEB64D35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41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FAD2-B520-4F7E-A5BF-4635092C0AD8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9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3F93-6AEA-4FB3-B0AA-A317A8144B2C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7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21EF-05A6-467F-BB6E-F9418EF18131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4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513D-5C30-4100-9EAC-4EB49D6A9011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46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8B2F-5AA5-4202-9024-326AE3676A87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481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01836-76F3-46B2-A2CF-8ECB6D47FC81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85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C31E6-5A73-4F68-A5A6-9AA675E095C1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82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06CE-4BC8-432A-8D8B-53C27AC5B35E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6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10EC-1532-46C5-92D1-4D787EFF65D8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782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8BB06-5FD9-4A34-93FF-23A513BBD864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471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2305A-3A73-412F-89BB-553FF956CBA2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27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00909-7130-451E-9EC8-C21D9C27AAE8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054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58DD-A6C6-4A06-9D0A-63CCA9320148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950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7B52-D20E-4D5E-8F2B-EC4175C22DF7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410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62A82-405E-4FC5-A40B-5B80E8DA7CAB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18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1AFC1C-FD99-4C8B-9CA2-EB9D04CC44D9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4456E22-8D92-4789-A4C2-7074F95225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8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09" y="376707"/>
            <a:ext cx="10018713" cy="1752599"/>
          </a:xfrm>
        </p:spPr>
        <p:style>
          <a:lnRef idx="2">
            <a:schemeClr val="dk1"/>
          </a:lnRef>
          <a:fillRef idx="1002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400" b="1" i="1" dirty="0" smtClean="0">
                <a:latin typeface="Arial Narrow" panose="020B0606020202030204" pitchFamily="34" charset="0"/>
              </a:rPr>
              <a:t>Analysis of Seoul Bike Rental Demand</a:t>
            </a:r>
            <a:endParaRPr lang="en-US" sz="4400" b="1" i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9" y="2408349"/>
            <a:ext cx="10018713" cy="32642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Project Type: EDA                                  </a:t>
            </a:r>
          </a:p>
          <a:p>
            <a:r>
              <a:rPr lang="en-US" dirty="0"/>
              <a:t>Presented by: Sharayu Jagtap</a:t>
            </a:r>
          </a:p>
          <a:p>
            <a:r>
              <a:rPr lang="en-US" b="1" dirty="0"/>
              <a:t>GUIDE BY: ABHISHEK WAHWAL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590" y="2524492"/>
            <a:ext cx="4687908" cy="303196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096521" y="6150466"/>
            <a:ext cx="551167" cy="365125"/>
          </a:xfrm>
        </p:spPr>
        <p:txBody>
          <a:bodyPr/>
          <a:lstStyle/>
          <a:p>
            <a:fld id="{44456E22-8D92-4789-A4C2-7074F95225DC}" type="slidenum">
              <a:rPr lang="en-US" sz="24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03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452" y="206830"/>
            <a:ext cx="10018713" cy="1752599"/>
          </a:xfrm>
        </p:spPr>
        <p:txBody>
          <a:bodyPr/>
          <a:lstStyle/>
          <a:p>
            <a:pPr algn="l"/>
            <a:r>
              <a:rPr lang="en-US" b="1" dirty="0" smtClean="0">
                <a:latin typeface="Arial Narrow" panose="020B0606020202030204" pitchFamily="34" charset="0"/>
              </a:rPr>
              <a:t>Project Summary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361901" y="1513615"/>
            <a:ext cx="10553814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analyzes bike rental data to understand factors affecting demand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8760 observations and 14 variables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representing hourly data for one year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Various visualization techniques like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charts, bar charts, scatter plots, </a:t>
            </a:r>
            <a:r>
              <a:rPr kumimoji="0" 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heatmaps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histogram, and KDE plots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used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 rentals are highly influenced by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temperature, season, and time of day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Rentals increase during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warm weather and summer season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Rentals decrease during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rainfall, snowfall, and winter season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clear daily pattern is observed with peak demand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morning and evening hours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rental values are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to moderate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few extreme high values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helps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planning of bike availability and resource management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4396" y="6492875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2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37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069" y="233919"/>
            <a:ext cx="10018713" cy="1297547"/>
          </a:xfrm>
        </p:spPr>
        <p:txBody>
          <a:bodyPr/>
          <a:lstStyle/>
          <a:p>
            <a:pPr algn="l"/>
            <a:r>
              <a:rPr lang="en-US" sz="4400" b="1" i="1" dirty="0">
                <a:solidFill>
                  <a:schemeClr val="dk1"/>
                </a:solidFill>
                <a:latin typeface="Arial Narrow" panose="020B0606020202030204" pitchFamily="34" charset="0"/>
                <a:ea typeface="+mn-ea"/>
                <a:cs typeface="+mn-cs"/>
              </a:rPr>
              <a:t>Objectives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94069" y="1281320"/>
            <a:ext cx="8682383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the number of bikes rented per hour and per month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the effect of weather variables such as temperature, humidity, wind speed, rainfall, snowfall, solar radiation, and dew point temperature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examine the impact of time variables (date and hour)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seasonal variation in bike rentals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rentals on holidays and non-holidays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the effect of functioning and non-functioning days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relationships using heatmap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distribution using KDE plot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key factors influencing bike demand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152258" y="6267300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3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573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338070"/>
            <a:ext cx="10018713" cy="1400577"/>
          </a:xfrm>
        </p:spPr>
        <p:txBody>
          <a:bodyPr/>
          <a:lstStyle/>
          <a:p>
            <a:pPr algn="l"/>
            <a:r>
              <a:rPr lang="en-US" sz="4400" b="1" i="1" dirty="0">
                <a:solidFill>
                  <a:schemeClr val="dk1"/>
                </a:solidFill>
                <a:latin typeface="Arial Narrow" panose="020B0606020202030204" pitchFamily="34" charset="0"/>
                <a:ea typeface="+mn-ea"/>
                <a:cs typeface="+mn-cs"/>
              </a:rPr>
              <a:t>Data</a:t>
            </a:r>
            <a:r>
              <a:rPr lang="en-US" dirty="0"/>
              <a:t> </a:t>
            </a:r>
            <a:r>
              <a:rPr lang="en-US" sz="4400" b="1" i="1" dirty="0">
                <a:solidFill>
                  <a:schemeClr val="dk1"/>
                </a:solidFill>
                <a:latin typeface="Arial Narrow" panose="020B0606020202030204" pitchFamily="34" charset="0"/>
                <a:ea typeface="+mn-ea"/>
                <a:cs typeface="+mn-cs"/>
              </a:rPr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411309"/>
            <a:ext cx="10391632" cy="5446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dataset contains 8760 rows and 14 variables.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dataset includes both numerical and categorical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variables.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dataset contains the following variables: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Date → Day of observation                                                           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Hour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Time of the day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Rented Bike Count → Number of bikes rented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Temperature → Weather temperature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Humidity → Moisture in air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Wind Speed → Speed of wind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Visibility → Clarity of atmosphere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65456" y="6292134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4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96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437349" y="1278805"/>
            <a:ext cx="7479383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Dew Point Temperature → Moisture indicator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 Radiation → Sunlight intensity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 → Amount of rain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Snowfall → Amount of snow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Seasons → Seasonal category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 → Holiday or not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Functioning Day → Whether system is working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625873" y="6205247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5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11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80304"/>
            <a:ext cx="10018713" cy="1571223"/>
          </a:xfrm>
        </p:spPr>
        <p:txBody>
          <a:bodyPr>
            <a:normAutofit/>
          </a:bodyPr>
          <a:lstStyle/>
          <a:p>
            <a:pPr algn="l"/>
            <a:r>
              <a:rPr lang="en-US" sz="3200" b="1" i="1" dirty="0">
                <a:solidFill>
                  <a:schemeClr val="dk1"/>
                </a:solidFill>
                <a:latin typeface="Arial Narrow" panose="020B0606020202030204" pitchFamily="34" charset="0"/>
                <a:ea typeface="+mn-ea"/>
                <a:cs typeface="+mn-cs"/>
              </a:rPr>
              <a:t>Data</a:t>
            </a:r>
            <a:r>
              <a:rPr lang="en-US" sz="3200" dirty="0" smtClean="0"/>
              <a:t> </a:t>
            </a:r>
            <a:r>
              <a:rPr lang="en-US" sz="3200" b="1" i="1" dirty="0">
                <a:solidFill>
                  <a:schemeClr val="dk1"/>
                </a:solidFill>
                <a:latin typeface="Arial Narrow" panose="020B0606020202030204" pitchFamily="34" charset="0"/>
                <a:ea typeface="+mn-ea"/>
                <a:cs typeface="+mn-cs"/>
              </a:rPr>
              <a:t>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9" y="1390919"/>
            <a:ext cx="10018713" cy="48295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Checked duplicate values.</a:t>
            </a:r>
          </a:p>
          <a:p>
            <a:r>
              <a:rPr lang="en-US" dirty="0" smtClean="0"/>
              <a:t>Checked Null values.</a:t>
            </a:r>
          </a:p>
          <a:p>
            <a:r>
              <a:rPr lang="en-US" dirty="0" smtClean="0"/>
              <a:t>Converted date column in </a:t>
            </a:r>
            <a:r>
              <a:rPr lang="en-US" dirty="0" err="1" smtClean="0"/>
              <a:t>datetime</a:t>
            </a:r>
            <a:r>
              <a:rPr lang="en-US" dirty="0" smtClean="0"/>
              <a:t> data type.</a:t>
            </a:r>
          </a:p>
          <a:p>
            <a:r>
              <a:rPr lang="en-US" dirty="0" smtClean="0"/>
              <a:t>Removed unwanted space and replace with “_” sign in column names.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lnSpc>
                <a:spcPct val="170000"/>
              </a:lnSpc>
            </a:pPr>
            <a:r>
              <a:rPr lang="en-US" sz="3500" b="1" i="1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Data</a:t>
            </a:r>
            <a:r>
              <a:rPr lang="en-US" sz="3500" dirty="0" smtClean="0"/>
              <a:t> </a:t>
            </a:r>
            <a:r>
              <a:rPr lang="en-US" sz="3500" b="1" i="1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>Transformation</a:t>
            </a:r>
            <a:r>
              <a:rPr lang="en-US" sz="4800" b="1" i="1" dirty="0" smtClean="0">
                <a:solidFill>
                  <a:schemeClr val="dk1"/>
                </a:solidFill>
                <a:latin typeface="Arial Narrow" panose="020B0606020202030204" pitchFamily="34" charset="0"/>
              </a:rPr>
              <a:t/>
            </a:r>
            <a:br>
              <a:rPr lang="en-US" sz="4800" b="1" i="1" dirty="0" smtClean="0">
                <a:solidFill>
                  <a:schemeClr val="dk1"/>
                </a:solidFill>
                <a:latin typeface="Arial Narrow" panose="020B060602020203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Added a primary key.</a:t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Added a new column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Day_Night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on the basis of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solar_radiation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735912" y="6233371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6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14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0326" y="87961"/>
            <a:ext cx="10018713" cy="1104736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1. Count of rental bikes per hour</a:t>
            </a:r>
            <a:b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6653421" y="348343"/>
            <a:ext cx="5734487" cy="6095999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chart is created to understand how bike rental demand changes at different hours of the day. It helps to identify peak hours (high demand) and low-demand periods</a:t>
            </a:r>
            <a:r>
              <a:rPr lang="en-US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is a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morning peak around 8:00 AM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which represents office-going time 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highest demand occurs at 6:00 PM (18:00)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when people return home 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lowest rentals are observed between 4:00 AM and 5:00 AM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when most people are inactive </a:t>
            </a:r>
          </a:p>
          <a:p>
            <a:pPr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Evening rentals are higher than morning rentals, indicating stronger demand in the evening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47" y="889832"/>
            <a:ext cx="5791135" cy="4346712"/>
          </a:xfrm>
          <a:prstGeom prst="rect">
            <a:avLst/>
          </a:prstGeom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 rot="10800000" flipV="1">
            <a:off x="3900025" y="5395386"/>
            <a:ext cx="90569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more bikes are available before peak hours (morning and evening)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low-demand hours (2:00 AM to 5:00 AM)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 bike availability and staff during evening peak (6 PM)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7886" y="5423652"/>
            <a:ext cx="2438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n-US" dirty="0" smtClean="0"/>
              <a:t>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en-US" dirty="0" smtClean="0"/>
              <a:t> :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1089" y="6415257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7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28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561498" y="229690"/>
            <a:ext cx="5322890" cy="831402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>2. Scatterplot of Wind speed and count of bikes</a:t>
            </a:r>
            <a:endParaRPr lang="en-US" sz="20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425" y="1186007"/>
            <a:ext cx="4986197" cy="3708042"/>
          </a:xfrm>
        </p:spPr>
      </p:pic>
      <p:sp>
        <p:nvSpPr>
          <p:cNvPr id="4" name="Rectangle 3"/>
          <p:cNvSpPr/>
          <p:nvPr/>
        </p:nvSpPr>
        <p:spPr>
          <a:xfrm>
            <a:off x="6803759" y="923511"/>
            <a:ext cx="54134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chart is used to understand how wind speed affects bike rental demand and to see whether users prefer renting bikes in low or high wind conditions.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 rot="10800000" flipV="1">
            <a:off x="6459695" y="1760138"/>
            <a:ext cx="5791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bike rentals occur when wind speed is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(0–3 m/s)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wind speed increases, the number of rentals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gradually decreases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wind speed exceeds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m/s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rentals drop significantly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Very few users rent bikes at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wind speeds (above 5 m/s)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389425" y="4991792"/>
            <a:ext cx="1940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Business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425" y="5380672"/>
            <a:ext cx="77932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Schedule </a:t>
            </a:r>
            <a:r>
              <a:rPr lang="en-US" b="1" dirty="0"/>
              <a:t>maintenance activities during high wind conditions</a:t>
            </a:r>
            <a:r>
              <a:rPr lang="en-US" dirty="0"/>
              <a:t>, as demand is already 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need to keep excess bikes available when wind speed is high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more availability during </a:t>
            </a:r>
            <a:r>
              <a:rPr lang="en-US" b="1" dirty="0"/>
              <a:t>low wind conditions</a:t>
            </a:r>
            <a:r>
              <a:rPr lang="en-US" dirty="0"/>
              <a:t>, when demand is higher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067766" y="6398438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8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50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072" y="0"/>
            <a:ext cx="5662500" cy="837127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 Monthly count of Rental Bikes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64" y="837127"/>
            <a:ext cx="6241231" cy="4494727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821306" y="593188"/>
            <a:ext cx="5219622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highest demand is observed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July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peak usage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Another high demand is seen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December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lowest rentals occur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February and September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shows that bike usage changes significantly across different months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806" y="3652827"/>
            <a:ext cx="5333193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Business Solution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maintenance and repairs during low-demand months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(February and September)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low-demand periods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improve service efficiency and reduce operational load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Focus on maintaining consistent service in important locations throughout the year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30605" y="6471085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9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45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894" y="1026630"/>
            <a:ext cx="8366935" cy="5464322"/>
          </a:xfrm>
        </p:spPr>
      </p:pic>
      <p:sp>
        <p:nvSpPr>
          <p:cNvPr id="2" name="TextBox 1"/>
          <p:cNvSpPr txBox="1"/>
          <p:nvPr/>
        </p:nvSpPr>
        <p:spPr>
          <a:xfrm>
            <a:off x="3477295" y="521967"/>
            <a:ext cx="7173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4.Correlation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Between Weather Variables and Bike Rental 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145039" y="6317646"/>
            <a:ext cx="551167" cy="346611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10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03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73606" y="739538"/>
            <a:ext cx="88835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understand how different weather variables are related to bike rentals and to identify which factor affects demand the most.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473606" y="1616701"/>
            <a:ext cx="9599125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relationships using colors: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a strong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relationship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When temperature increases → bike rentals increase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 and Snowfall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relationships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When rain or snow increases → bike rentals decrease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This means: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weather → more rentals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Bad weather → fewer rentals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096000" y="6143119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11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67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5303" y="1146220"/>
            <a:ext cx="8930748" cy="4159876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Business Solution </a:t>
            </a:r>
            <a:endParaRPr lang="en-US" sz="1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weather forecasts to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plan bike distribution in advance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placing more bikes in high-demand areas on warm days 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During rain and snowfall,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reduce redistribution efforts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focus on essential operations only 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Monitor temperature changes daily to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adjust fleet availability dynamically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 on maintaining service in key locations (metro stations, offices) even in bad weather</a:t>
            </a:r>
          </a:p>
          <a:p>
            <a:pPr algn="l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109399" y="6140853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12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47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1104" y="1390917"/>
            <a:ext cx="5473521" cy="337426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KDE (Kernel Density Estimation) plot is used to understand the distribution of rented bike count. It provides a smooth curve to show how frequently different rental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helps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identifying the overall pattern of the data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41" y="1284400"/>
            <a:ext cx="5625719" cy="4247037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581104" y="3113164"/>
            <a:ext cx="561089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plot shows that the data is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positively skewed (right-skewed)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of the bike rentals are concentrated in 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range (0–500)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rental values occur occasionally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high rentals (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above 2000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are rare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curve has a long tail towards the right, indicating fewer high-value observations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6676" y="643943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5. Frequency curve of Rented bike count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641208" y="6227739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13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30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9304" y="840942"/>
            <a:ext cx="6987645" cy="3795452"/>
          </a:xfrm>
        </p:spPr>
        <p:txBody>
          <a:bodyPr>
            <a:normAutofit lnSpcReduction="10000"/>
          </a:bodyPr>
          <a:lstStyle/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latin typeface="Arial" panose="020B0604020202020204" pitchFamily="34" charset="0"/>
              </a:rPr>
              <a:t>Business Solution</a:t>
            </a:r>
            <a:endParaRPr lang="en-US" dirty="0">
              <a:latin typeface="Arial" panose="020B0604020202020204" pitchFamily="34" charset="0"/>
            </a:endParaRPr>
          </a:p>
          <a:p>
            <a:pPr lvl="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>
                <a:latin typeface="Arial" panose="020B0604020202020204" pitchFamily="34" charset="0"/>
              </a:rPr>
              <a:t>Maintain a </a:t>
            </a:r>
            <a:r>
              <a:rPr lang="en-US" sz="1900" b="1" dirty="0">
                <a:latin typeface="Arial" panose="020B0604020202020204" pitchFamily="34" charset="0"/>
              </a:rPr>
              <a:t>base number of bikes</a:t>
            </a:r>
            <a:r>
              <a:rPr lang="en-US" sz="1900" dirty="0">
                <a:latin typeface="Arial" panose="020B0604020202020204" pitchFamily="34" charset="0"/>
              </a:rPr>
              <a:t> to handle regular low-to-medium demand </a:t>
            </a:r>
          </a:p>
          <a:p>
            <a:pPr lvl="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>
                <a:latin typeface="Arial" panose="020B0604020202020204" pitchFamily="34" charset="0"/>
              </a:rPr>
              <a:t>Avoid over-allocation of bikes since high demand occurs less frequently </a:t>
            </a:r>
          </a:p>
          <a:p>
            <a:pPr lvl="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>
                <a:latin typeface="Arial" panose="020B0604020202020204" pitchFamily="34" charset="0"/>
              </a:rPr>
              <a:t>Use </a:t>
            </a:r>
            <a:r>
              <a:rPr lang="en-US" sz="1900" b="1" dirty="0">
                <a:latin typeface="Arial" panose="020B0604020202020204" pitchFamily="34" charset="0"/>
              </a:rPr>
              <a:t>flexible or dynamic planning</a:t>
            </a:r>
            <a:r>
              <a:rPr lang="en-US" sz="1900" dirty="0">
                <a:latin typeface="Arial" panose="020B0604020202020204" pitchFamily="34" charset="0"/>
              </a:rPr>
              <a:t> to handle peak demand when required </a:t>
            </a:r>
          </a:p>
          <a:p>
            <a:pPr lvl="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>
                <a:latin typeface="Arial" panose="020B0604020202020204" pitchFamily="34" charset="0"/>
              </a:rPr>
              <a:t>Focus on efficient management of daily operations rather than only extreme cases</a:t>
            </a:r>
          </a:p>
          <a:p>
            <a:pPr algn="l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827542" y="5947669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14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18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583" y="366283"/>
            <a:ext cx="5289977" cy="84433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6.Seasonwise total count of rented bike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583" y="1364372"/>
            <a:ext cx="4614134" cy="4164231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6734298" y="1027703"/>
            <a:ext cx="485747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 rentals are highest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rentals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autumn and spring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 rentals in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strong impact of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 on demand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35" y="3296003"/>
            <a:ext cx="5373804" cy="3365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Business Solution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 high bike availability during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summer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major demand areas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limit operations to key locations to reduce costs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low-demand periods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maintenance and system improvements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Plan resources seasonally for better efficiency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75304" y="6201982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15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32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553" y="434658"/>
            <a:ext cx="6835441" cy="837126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7. </a:t>
            </a:r>
            <a:r>
              <a:rPr lang="en-US" sz="2400" dirty="0"/>
              <a:t>Bike Rentals on Holidays </a:t>
            </a:r>
            <a:r>
              <a:rPr lang="en-US" sz="2400" dirty="0" err="1"/>
              <a:t>vs</a:t>
            </a:r>
            <a:r>
              <a:rPr lang="en-US" sz="2400" dirty="0"/>
              <a:t> Non-Holidays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012" y="1495221"/>
            <a:ext cx="5336142" cy="4230330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7174521" y="1301230"/>
            <a:ext cx="4628272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Rentals are much higher on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non-holidays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low rentals on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rentals depend on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routine (work/college)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174521" y="3449206"/>
            <a:ext cx="4628272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Solution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bike availability near 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offices and public transport on working days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operations during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resource usage based on demand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54854" y="6267464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16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841370"/>
            <a:ext cx="6801560" cy="550572"/>
          </a:xfrm>
        </p:spPr>
        <p:txBody>
          <a:bodyPr>
            <a:normAutofit fontScale="90000"/>
          </a:bodyPr>
          <a:lstStyle/>
          <a:p>
            <a:r>
              <a:rPr lang="en-US" sz="2400" dirty="0" smtClean="0"/>
              <a:t>8.Bike </a:t>
            </a:r>
            <a:r>
              <a:rPr lang="en-US" sz="2400" dirty="0"/>
              <a:t>Rentals on Functioning </a:t>
            </a:r>
            <a:r>
              <a:rPr lang="en-US" sz="2400" dirty="0" err="1"/>
              <a:t>vs</a:t>
            </a:r>
            <a:r>
              <a:rPr lang="en-US" sz="2400" dirty="0"/>
              <a:t> Non-Functioning Days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2" y="1804116"/>
            <a:ext cx="5367249" cy="3888346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7096656" y="1391942"/>
            <a:ext cx="4501664" cy="1815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days are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functioning days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few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non-functioning days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generally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7096656" y="3338582"/>
            <a:ext cx="5095344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Business Solution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Maintain system regularly to ensure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continuous service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 non-functioning days to avoid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loss of revenue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Monitor system performance for better efficiency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95000" y="6156840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17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88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6275" y="1356099"/>
            <a:ext cx="8041523" cy="3679542"/>
          </a:xfrm>
        </p:spPr>
        <p:txBody>
          <a:bodyPr>
            <a:noAutofit/>
          </a:bodyPr>
          <a:lstStyle/>
          <a:p>
            <a:pPr algn="l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Bike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rental demand is strongly influenced by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weather conditions, time, and seasons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Rentals increase during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high temperatures and summer season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Rentals decrease during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rainfall, snowfall, and winter season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is a clear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daily pattern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with peak demand in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morning and evening hours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Most rental values are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low to moderate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while very high demand occurs rarely 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Temperature, time of day, and season are 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key factors affecting bike rentals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These insights help in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better planning of bike availability and resource management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06275" y="537641"/>
            <a:ext cx="29738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n w="3175" cmpd="sng">
                  <a:noFill/>
                </a:ln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431371" y="6024943"/>
            <a:ext cx="551167" cy="365125"/>
          </a:xfrm>
        </p:spPr>
        <p:txBody>
          <a:bodyPr vert="horz" lIns="91440" tIns="45720" rIns="91440" bIns="45720" rtlCol="0" anchor="ctr"/>
          <a:lstStyle/>
          <a:p>
            <a:fld id="{44456E22-8D92-4789-A4C2-7074F95225DC}" type="slidenum">
              <a:rPr lang="en-US" sz="240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18</a:t>
            </a:fld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34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1241</Words>
  <Application>Microsoft Office PowerPoint</Application>
  <PresentationFormat>Widescreen</PresentationFormat>
  <Paragraphs>166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Narrow</vt:lpstr>
      <vt:lpstr>Calibri</vt:lpstr>
      <vt:lpstr>Corbel</vt:lpstr>
      <vt:lpstr>Parallax</vt:lpstr>
      <vt:lpstr>Analysis of Seoul Bike Rental Demand</vt:lpstr>
      <vt:lpstr>Project Summary</vt:lpstr>
      <vt:lpstr>Objectives</vt:lpstr>
      <vt:lpstr>Data Description</vt:lpstr>
      <vt:lpstr> Dew Point Temperature → Moisture indicator  Solar Radiation → Sunlight intensity  Rainfall → Amount of rain  Snowfall → Amount of snow  Seasons → Seasonal category  Holiday → Holiday or not  Functioning Day → Whether system is working </vt:lpstr>
      <vt:lpstr>Data Cleaning</vt:lpstr>
      <vt:lpstr>1. Count of rental bikes per hour </vt:lpstr>
      <vt:lpstr>2. Scatterplot of Wind speed and count of bikes</vt:lpstr>
      <vt:lpstr>3 Monthly count of Rental Bikes</vt:lpstr>
      <vt:lpstr>PowerPoint Presentation</vt:lpstr>
      <vt:lpstr>PowerPoint Presentation</vt:lpstr>
      <vt:lpstr>PowerPoint Presentation</vt:lpstr>
      <vt:lpstr>This KDE (Kernel Density Estimation) plot is used to understand the distribution of rented bike count. It provides a smooth curve to show how frequently different rental helps in identifying the overall pattern of the data.       </vt:lpstr>
      <vt:lpstr>PowerPoint Presentation</vt:lpstr>
      <vt:lpstr>6.Seasonwise total count of rented bike</vt:lpstr>
      <vt:lpstr>7. Bike Rentals on Holidays vs Non-Holidays</vt:lpstr>
      <vt:lpstr>8.Bike Rentals on Functioning vs Non-Functioning Days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Rental Data Analysis</dc:title>
  <dc:creator>A</dc:creator>
  <cp:lastModifiedBy>A</cp:lastModifiedBy>
  <cp:revision>29</cp:revision>
  <dcterms:created xsi:type="dcterms:W3CDTF">2026-03-28T02:52:07Z</dcterms:created>
  <dcterms:modified xsi:type="dcterms:W3CDTF">2026-03-28T13:50:28Z</dcterms:modified>
</cp:coreProperties>
</file>